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is the agreed design before we build in Power BI. Every page and chart is here with the question it answers, so we build only what serves a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page answers exactly one business question. The page title in Power BI is the page name, and the subtitle is the question, so a reader always knows why the page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Colors carry meaning, not decoration: teal family = the business growing (revenue, EBITDA, equity); amber = what it costs or owes; red and green only flag good or bad and always sit next to words like "Above 3x: watch". Page background #EEF2F3, cards #FFFFFF, text #13252C, captions #52646C. All are in the EGX_Financials_theme.json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Readers learn the layout once. Navigation left, filters top, headline numbers, then charts that explain them. The three rules below the layout stop the most common misreadings.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Overview: The one page an executive reads. Headline numbers first, then four charts that explain growth, profitability, cash and debt.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visual on the Overview page with the question it answers and the DAX measures behind it (names as in Measures.dax).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Profit &amp; Loss: Follows revenue down to net income and shows which costs grow faster than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visual on the Profit &amp; Loss page with the question it answers and the DAX measures behind it (names as in Measures.dax).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 Sheet: Shows the size of the company and whether growth is paid for with debt or with shareholders’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visual on the Balance Sheet page with the question it answers and the DAX measures behind it (names as in Measures.dax).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Liquidity &amp; Leverage: Short-term: can it pay this year’s bills. Long-term: can it carry and service its debt.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visual on the Liquidity &amp; Leverage page with the question it answers and the DAX measures behind it (names as in Measures.dax).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Capital: Shows how much cash is tied up in running the business and how long it takes to come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visual on the Working Capital page with the question it answers and the DAX measures behind it (names as in Measures.dax).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Companies: Puts the selected companies side by side on the same ratios for the same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visual on the Compare Companies page with the question it answers and the DAX measures behind it (names as in Measures.dax).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files already exist: the theme JSON, six background images and Measures.dax. The last step catches the most common modelling mistake: summing balance-sheet values across quarters.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737600" y="2419548"/>
            <a:ext cx="26416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737600" y="3171329"/>
            <a:ext cx="2641600" cy="2873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E9A5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 BRIEF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8440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4F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4F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Dashboard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987800"/>
            <a:ext cx="85026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BFD3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pages we will build in Power BI, the question each chart answers, and the colors that hold it together.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FD3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EGX listed companies · Quarterly statements · Sample: Juhayna (JUFO)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DASHBOARD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pages, six questions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66801"/>
          <a:ext cx="10553700" cy="2889250"/>
        </p:xfrm>
        <a:graphic>
          <a:graphicData uri="http://schemas.openxmlformats.org/drawingml/2006/table">
            <a:tbl>
              <a:tblPr/>
              <a:tblGrid>
                <a:gridCol w="844296"/>
                <a:gridCol w="2743962"/>
                <a:gridCol w="4643628"/>
                <a:gridCol w="2321814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#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Page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question it answers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from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4E3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A954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Overview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is the company performing financially?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summary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A954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02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Profit &amp; Loss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 the company growing profitably?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Income statement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A954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03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Balance Sheet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does it own, and how is it funded?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Balance sheet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A954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04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Liquidity &amp; Leverage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Can it meet its obligations?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Balance sheet + P&amp;L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A954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05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Working Capital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efficiently does it use operating assets?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Balance sheet + P&amp;L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A954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06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Compare Companies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does it stack up against peers?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 statements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COLOR SYSTEM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meaning per color, on every page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276"/>
            <a:ext cx="2501900" cy="1702792"/>
          </a:xfrm>
          <a:prstGeom prst="roundRect">
            <a:avLst>
              <a:gd name="adj" fmla="val 5780"/>
            </a:avLst>
          </a:prstGeom>
          <a:solidFill>
            <a:srgbClr val="FBFCFB"/>
          </a:solidFill>
          <a:ln w="6350">
            <a:solidFill>
              <a:srgbClr val="D5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150" y="1860451"/>
            <a:ext cx="2495550" cy="508000"/>
          </a:xfrm>
          <a:custGeom>
            <a:avLst/>
            <a:gdLst/>
            <a:ahLst/>
            <a:cxnLst/>
            <a:rect l="l" t="t" r="r" b="b"/>
            <a:pathLst>
              <a:path w="2495550" h="508000">
                <a:moveTo>
                  <a:pt x="0" y="95250"/>
                </a:moveTo>
                <a:arcTo hR="95250" wR="95250" stAng="10800000" swAng="5400000"/>
                <a:lnTo>
                  <a:pt x="2400300" y="0"/>
                </a:lnTo>
                <a:arcTo hR="95250" wR="95250" stAng="16200000" swAng="5400000"/>
                <a:lnTo>
                  <a:pt x="2495550" y="508000"/>
                </a:lnTo>
                <a:lnTo>
                  <a:pt x="0" y="508000"/>
                </a:lnTo>
                <a:close/>
              </a:path>
            </a:pathLst>
          </a:custGeom>
          <a:solidFill>
            <a:srgbClr val="1D4A55"/>
          </a:solidFill>
          <a:ln/>
        </p:spPr>
      </p:sp>
      <p:sp>
        <p:nvSpPr>
          <p:cNvPr id="6" name="Text 4"/>
          <p:cNvSpPr/>
          <p:nvPr/>
        </p:nvSpPr>
        <p:spPr>
          <a:xfrm>
            <a:off x="971550" y="2495451"/>
            <a:ext cx="22564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teal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1550" y="2782391"/>
            <a:ext cx="2256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#1D4A55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1550" y="3033812"/>
            <a:ext cx="2256473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Revenue, assets, subtotals, selected state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2025" y="1857276"/>
            <a:ext cx="2501900" cy="1702792"/>
          </a:xfrm>
          <a:prstGeom prst="roundRect">
            <a:avLst>
              <a:gd name="adj" fmla="val 5780"/>
            </a:avLst>
          </a:prstGeom>
          <a:solidFill>
            <a:srgbClr val="FBFCFB"/>
          </a:solidFill>
          <a:ln w="6350">
            <a:solidFill>
              <a:srgbClr val="D5DD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5200" y="1860451"/>
            <a:ext cx="2495550" cy="508000"/>
          </a:xfrm>
          <a:custGeom>
            <a:avLst/>
            <a:gdLst/>
            <a:ahLst/>
            <a:cxnLst/>
            <a:rect l="l" t="t" r="r" b="b"/>
            <a:pathLst>
              <a:path w="2495550" h="508000">
                <a:moveTo>
                  <a:pt x="0" y="95250"/>
                </a:moveTo>
                <a:arcTo hR="95250" wR="95250" stAng="10800000" swAng="5400000"/>
                <a:lnTo>
                  <a:pt x="2400300" y="0"/>
                </a:lnTo>
                <a:arcTo hR="95250" wR="95250" stAng="16200000" swAng="5400000"/>
                <a:lnTo>
                  <a:pt x="2495550" y="508000"/>
                </a:lnTo>
                <a:lnTo>
                  <a:pt x="0" y="508000"/>
                </a:lnTo>
                <a:close/>
              </a:path>
            </a:pathLst>
          </a:custGeom>
          <a:solidFill>
            <a:srgbClr val="3A9A9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495451"/>
            <a:ext cx="22564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782391"/>
            <a:ext cx="2256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#3A9A9A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3033812"/>
            <a:ext cx="225647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EBITDA, equity, second series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88075" y="1857276"/>
            <a:ext cx="2501900" cy="1702792"/>
          </a:xfrm>
          <a:prstGeom prst="roundRect">
            <a:avLst>
              <a:gd name="adj" fmla="val 5780"/>
            </a:avLst>
          </a:prstGeom>
          <a:solidFill>
            <a:srgbClr val="FBFCFB"/>
          </a:solidFill>
          <a:ln w="6350">
            <a:solidFill>
              <a:srgbClr val="D5DD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1250" y="1860451"/>
            <a:ext cx="2495550" cy="508000"/>
          </a:xfrm>
          <a:custGeom>
            <a:avLst/>
            <a:gdLst/>
            <a:ahLst/>
            <a:cxnLst/>
            <a:rect l="l" t="t" r="r" b="b"/>
            <a:pathLst>
              <a:path w="2495550" h="508000">
                <a:moveTo>
                  <a:pt x="0" y="95250"/>
                </a:moveTo>
                <a:arcTo hR="95250" wR="95250" stAng="10800000" swAng="5400000"/>
                <a:lnTo>
                  <a:pt x="2400300" y="0"/>
                </a:lnTo>
                <a:arcTo hR="95250" wR="95250" stAng="16200000" swAng="5400000"/>
                <a:lnTo>
                  <a:pt x="2495550" y="508000"/>
                </a:lnTo>
                <a:lnTo>
                  <a:pt x="0" y="508000"/>
                </a:lnTo>
                <a:close/>
              </a:path>
            </a:pathLst>
          </a:custGeom>
          <a:solidFill>
            <a:srgbClr val="D9772B"/>
          </a:solidFill>
          <a:ln/>
        </p:spPr>
      </p:sp>
      <p:sp>
        <p:nvSpPr>
          <p:cNvPr id="16" name="Text 14"/>
          <p:cNvSpPr/>
          <p:nvPr/>
        </p:nvSpPr>
        <p:spPr>
          <a:xfrm>
            <a:off x="6343650" y="2495451"/>
            <a:ext cx="22564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3650" y="2782391"/>
            <a:ext cx="2256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#D9772B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43650" y="3033812"/>
            <a:ext cx="225647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Costs, net income, liabilities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74125" y="1857276"/>
            <a:ext cx="2501900" cy="1702792"/>
          </a:xfrm>
          <a:prstGeom prst="roundRect">
            <a:avLst>
              <a:gd name="adj" fmla="val 5780"/>
            </a:avLst>
          </a:prstGeom>
          <a:solidFill>
            <a:srgbClr val="FBFCFB"/>
          </a:solidFill>
          <a:ln w="6350">
            <a:solidFill>
              <a:srgbClr val="D5DD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77300" y="1860451"/>
            <a:ext cx="2495550" cy="508000"/>
          </a:xfrm>
          <a:custGeom>
            <a:avLst/>
            <a:gdLst/>
            <a:ahLst/>
            <a:cxnLst/>
            <a:rect l="l" t="t" r="r" b="b"/>
            <a:pathLst>
              <a:path w="2495550" h="508000">
                <a:moveTo>
                  <a:pt x="0" y="95250"/>
                </a:moveTo>
                <a:arcTo hR="95250" wR="95250" stAng="10800000" swAng="5400000"/>
                <a:lnTo>
                  <a:pt x="2400300" y="0"/>
                </a:lnTo>
                <a:arcTo hR="95250" wR="95250" stAng="16200000" swAng="5400000"/>
                <a:lnTo>
                  <a:pt x="2495550" y="508000"/>
                </a:lnTo>
                <a:lnTo>
                  <a:pt x="0" y="508000"/>
                </a:lnTo>
                <a:close/>
              </a:path>
            </a:pathLst>
          </a:custGeom>
          <a:solidFill>
            <a:srgbClr val="7A5AA6"/>
          </a:solidFill>
          <a:ln/>
        </p:spPr>
      </p:sp>
      <p:sp>
        <p:nvSpPr>
          <p:cNvPr id="21" name="Text 19"/>
          <p:cNvSpPr/>
          <p:nvPr/>
        </p:nvSpPr>
        <p:spPr>
          <a:xfrm>
            <a:off x="9029700" y="2495451"/>
            <a:ext cx="22564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Purple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29700" y="2782391"/>
            <a:ext cx="2256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#7A5AA6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29700" y="3033812"/>
            <a:ext cx="225647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Operating expenses (OPEX)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975" y="3744218"/>
            <a:ext cx="2501900" cy="1702792"/>
          </a:xfrm>
          <a:prstGeom prst="roundRect">
            <a:avLst>
              <a:gd name="adj" fmla="val 5780"/>
            </a:avLst>
          </a:prstGeom>
          <a:solidFill>
            <a:srgbClr val="FBFCFB"/>
          </a:solidFill>
          <a:ln w="6350">
            <a:solidFill>
              <a:srgbClr val="D5DD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9150" y="3747393"/>
            <a:ext cx="2495550" cy="508000"/>
          </a:xfrm>
          <a:custGeom>
            <a:avLst/>
            <a:gdLst/>
            <a:ahLst/>
            <a:cxnLst/>
            <a:rect l="l" t="t" r="r" b="b"/>
            <a:pathLst>
              <a:path w="2495550" h="508000">
                <a:moveTo>
                  <a:pt x="0" y="95250"/>
                </a:moveTo>
                <a:arcTo hR="95250" wR="95250" stAng="10800000" swAng="5400000"/>
                <a:lnTo>
                  <a:pt x="2400300" y="0"/>
                </a:lnTo>
                <a:arcTo hR="95250" wR="95250" stAng="16200000" swAng="5400000"/>
                <a:lnTo>
                  <a:pt x="2495550" y="508000"/>
                </a:lnTo>
                <a:lnTo>
                  <a:pt x="0" y="508000"/>
                </a:lnTo>
                <a:close/>
              </a:path>
            </a:pathLst>
          </a:custGeom>
          <a:solidFill>
            <a:srgbClr val="B6452C"/>
          </a:solidFill>
          <a:ln/>
        </p:spPr>
      </p:sp>
      <p:sp>
        <p:nvSpPr>
          <p:cNvPr id="26" name="Text 24"/>
          <p:cNvSpPr/>
          <p:nvPr/>
        </p:nvSpPr>
        <p:spPr>
          <a:xfrm>
            <a:off x="971550" y="4382393"/>
            <a:ext cx="22564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Brick red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1550" y="4669334"/>
            <a:ext cx="2256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#B6452C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1550" y="4920754"/>
            <a:ext cx="2256473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Debt and warnings, always with words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02025" y="3744218"/>
            <a:ext cx="2501900" cy="1702792"/>
          </a:xfrm>
          <a:prstGeom prst="roundRect">
            <a:avLst>
              <a:gd name="adj" fmla="val 5780"/>
            </a:avLst>
          </a:prstGeom>
          <a:solidFill>
            <a:srgbClr val="FBFCFB"/>
          </a:solidFill>
          <a:ln w="6350">
            <a:solidFill>
              <a:srgbClr val="D5DD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05200" y="3747393"/>
            <a:ext cx="2495550" cy="508000"/>
          </a:xfrm>
          <a:custGeom>
            <a:avLst/>
            <a:gdLst/>
            <a:ahLst/>
            <a:cxnLst/>
            <a:rect l="l" t="t" r="r" b="b"/>
            <a:pathLst>
              <a:path w="2495550" h="508000">
                <a:moveTo>
                  <a:pt x="0" y="95250"/>
                </a:moveTo>
                <a:arcTo hR="95250" wR="95250" stAng="10800000" swAng="5400000"/>
                <a:lnTo>
                  <a:pt x="2400300" y="0"/>
                </a:lnTo>
                <a:arcTo hR="95250" wR="95250" stAng="16200000" swAng="5400000"/>
                <a:lnTo>
                  <a:pt x="2495550" y="508000"/>
                </a:lnTo>
                <a:lnTo>
                  <a:pt x="0" y="508000"/>
                </a:lnTo>
                <a:close/>
              </a:path>
            </a:pathLst>
          </a:custGeom>
          <a:solidFill>
            <a:srgbClr val="2E7D5B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0" y="4382393"/>
            <a:ext cx="22564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0" y="4669334"/>
            <a:ext cx="2256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#2E7D5B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4920754"/>
            <a:ext cx="2256473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Positive change, always with words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88075" y="3744218"/>
            <a:ext cx="2501900" cy="1702792"/>
          </a:xfrm>
          <a:prstGeom prst="roundRect">
            <a:avLst>
              <a:gd name="adj" fmla="val 5780"/>
            </a:avLst>
          </a:prstGeom>
          <a:solidFill>
            <a:srgbClr val="FBFCFB"/>
          </a:solidFill>
          <a:ln w="6350">
            <a:solidFill>
              <a:srgbClr val="D5DD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1250" y="3747393"/>
            <a:ext cx="2495550" cy="508000"/>
          </a:xfrm>
          <a:custGeom>
            <a:avLst/>
            <a:gdLst/>
            <a:ahLst/>
            <a:cxnLst/>
            <a:rect l="l" t="t" r="r" b="b"/>
            <a:pathLst>
              <a:path w="2495550" h="508000">
                <a:moveTo>
                  <a:pt x="0" y="95250"/>
                </a:moveTo>
                <a:arcTo hR="95250" wR="95250" stAng="10800000" swAng="5400000"/>
                <a:lnTo>
                  <a:pt x="2400300" y="0"/>
                </a:lnTo>
                <a:arcTo hR="95250" wR="95250" stAng="16200000" swAng="5400000"/>
                <a:lnTo>
                  <a:pt x="2495550" y="508000"/>
                </a:lnTo>
                <a:lnTo>
                  <a:pt x="0" y="508000"/>
                </a:lnTo>
                <a:close/>
              </a:path>
            </a:pathLst>
          </a:custGeom>
          <a:solidFill>
            <a:srgbClr val="AEBBC0"/>
          </a:solidFill>
          <a:ln/>
        </p:spPr>
      </p:sp>
      <p:sp>
        <p:nvSpPr>
          <p:cNvPr id="36" name="Text 34"/>
          <p:cNvSpPr/>
          <p:nvPr/>
        </p:nvSpPr>
        <p:spPr>
          <a:xfrm>
            <a:off x="6343650" y="4382393"/>
            <a:ext cx="22564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43650" y="4669334"/>
            <a:ext cx="2256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#AEBBC0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43650" y="4920754"/>
            <a:ext cx="225647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 year, other, thresholds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874125" y="3744218"/>
            <a:ext cx="2501900" cy="1702792"/>
          </a:xfrm>
          <a:prstGeom prst="roundRect">
            <a:avLst>
              <a:gd name="adj" fmla="val 5780"/>
            </a:avLst>
          </a:prstGeom>
          <a:solidFill>
            <a:srgbClr val="FBFCFB"/>
          </a:solidFill>
          <a:ln w="6350">
            <a:solidFill>
              <a:srgbClr val="D5DD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77300" y="3747393"/>
            <a:ext cx="2495550" cy="508000"/>
          </a:xfrm>
          <a:custGeom>
            <a:avLst/>
            <a:gdLst/>
            <a:ahLst/>
            <a:cxnLst/>
            <a:rect l="l" t="t" r="r" b="b"/>
            <a:pathLst>
              <a:path w="2495550" h="508000">
                <a:moveTo>
                  <a:pt x="0" y="95250"/>
                </a:moveTo>
                <a:arcTo hR="95250" wR="95250" stAng="10800000" swAng="5400000"/>
                <a:lnTo>
                  <a:pt x="2400300" y="0"/>
                </a:lnTo>
                <a:arcTo hR="95250" wR="95250" stAng="16200000" swAng="5400000"/>
                <a:lnTo>
                  <a:pt x="2495550" y="508000"/>
                </a:lnTo>
                <a:lnTo>
                  <a:pt x="0" y="508000"/>
                </a:lnTo>
                <a:close/>
              </a:path>
            </a:pathLst>
          </a:custGeom>
          <a:solidFill>
            <a:srgbClr val="12303A"/>
          </a:solidFill>
          <a:ln/>
        </p:spPr>
      </p:sp>
      <p:sp>
        <p:nvSpPr>
          <p:cNvPr id="41" name="Text 39"/>
          <p:cNvSpPr/>
          <p:nvPr/>
        </p:nvSpPr>
        <p:spPr>
          <a:xfrm>
            <a:off x="9029700" y="4382393"/>
            <a:ext cx="225647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Sidebar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29700" y="4669334"/>
            <a:ext cx="22564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#12303A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029700" y="4920754"/>
            <a:ext cx="2256473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Navigation panel background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LAYOUT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page reads the same 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276"/>
            <a:ext cx="2501900" cy="2175173"/>
          </a:xfrm>
          <a:prstGeom prst="roundRect">
            <a:avLst>
              <a:gd name="adj" fmla="val 4525"/>
            </a:avLst>
          </a:prstGeom>
          <a:solidFill>
            <a:srgbClr val="FBFCFB"/>
          </a:solidFill>
          <a:ln w="6350">
            <a:solidFill>
              <a:srgbClr val="D5DD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063651"/>
            <a:ext cx="215182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A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2350" y="2556371"/>
            <a:ext cx="215182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2350" y="2901752"/>
            <a:ext cx="2151825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Dark sidebar on the left with the page navigator. Same place on every page.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02025" y="1857276"/>
            <a:ext cx="2501900" cy="2175173"/>
          </a:xfrm>
          <a:prstGeom prst="roundRect">
            <a:avLst>
              <a:gd name="adj" fmla="val 4525"/>
            </a:avLst>
          </a:prstGeom>
          <a:solidFill>
            <a:srgbClr val="FBFCFB"/>
          </a:solidFill>
          <a:ln w="6350">
            <a:solidFill>
              <a:srgbClr val="D5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8400" y="2063651"/>
            <a:ext cx="215182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A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08400" y="2556371"/>
            <a:ext cx="215182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8400" y="2901752"/>
            <a:ext cx="2151825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row top-right: Company, Year, Yearly or Quarterly, Clear. Synced across pages.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8075" y="1857276"/>
            <a:ext cx="2501900" cy="2175173"/>
          </a:xfrm>
          <a:prstGeom prst="roundRect">
            <a:avLst>
              <a:gd name="adj" fmla="val 4525"/>
            </a:avLst>
          </a:prstGeom>
          <a:solidFill>
            <a:srgbClr val="FBFCFB"/>
          </a:solidFill>
          <a:ln w="6350">
            <a:solidFill>
              <a:srgbClr val="D5DD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4450" y="2063651"/>
            <a:ext cx="215182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A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94450" y="2556371"/>
            <a:ext cx="215182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KPI row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94450" y="2901752"/>
            <a:ext cx="2151825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to 6 cards: the value, one line of context, a small trend line.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74125" y="1857276"/>
            <a:ext cx="2501900" cy="2175173"/>
          </a:xfrm>
          <a:prstGeom prst="roundRect">
            <a:avLst>
              <a:gd name="adj" fmla="val 4525"/>
            </a:avLst>
          </a:prstGeom>
          <a:solidFill>
            <a:srgbClr val="FBFCFB"/>
          </a:solidFill>
          <a:ln w="6350">
            <a:solidFill>
              <a:srgbClr val="D5DD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80500" y="2063651"/>
            <a:ext cx="215182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4A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80500" y="2556371"/>
            <a:ext cx="215182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80500" y="2901752"/>
            <a:ext cx="2151825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to 4 cards. Each title is the question the chart answers.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340423"/>
            <a:ext cx="34184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Titles are questions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4619823"/>
            <a:ext cx="341843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"Is profit turning into cash?" beats "OCF vs NI".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36467" y="4340423"/>
            <a:ext cx="34185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Partial years say so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436467" y="4619823"/>
            <a:ext cx="341853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is labeled 2026 H1, so nobody reads a drop.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60234" y="4340423"/>
            <a:ext cx="341853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unit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60234" y="4619823"/>
            <a:ext cx="341853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EGP billions (bn), ratios as x, margins as %.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verview page mockup">    </p:cNvPr>
          <p:cNvPicPr>
            <a:picLocks noChangeAspect="1"/>
          </p:cNvPicPr>
          <p:nvPr/>
        </p:nvPicPr>
        <p:blipFill>
          <a:blip r:embed="rId1"/>
          <a:srcRect l="-65" r="-65" t="0" b="0"/>
          <a:stretch/>
        </p:blipFill>
        <p:spPr>
          <a:xfrm>
            <a:off x="819150" y="1190625"/>
            <a:ext cx="7607300" cy="4273550"/>
          </a:xfrm>
          <a:prstGeom prst="roundRect">
            <a:avLst>
              <a:gd name="adj" fmla="val 1634"/>
            </a:avLst>
          </a:prstGeom>
          <a:effectLst>
            <a:outerShdw sx="100000" sy="100000" kx="0" ky="0" algn="bl" rotWithShape="0" blurRad="254000" dist="76200" dir="5400000">
              <a:srgbClr val="12303A">
                <a:alpha val="18000"/>
              </a:srgbClr>
            </a:outerShdw>
          </a:effectLst>
        </p:spPr>
      </p:pic>
      <p:sp>
        <p:nvSpPr>
          <p:cNvPr id="3" name="Shape 0"/>
          <p:cNvSpPr/>
          <p:nvPr/>
        </p:nvSpPr>
        <p:spPr>
          <a:xfrm>
            <a:off x="815975" y="1187450"/>
            <a:ext cx="7613650" cy="4279900"/>
          </a:xfrm>
          <a:prstGeom prst="roundRect">
            <a:avLst>
              <a:gd name="adj" fmla="val 1706"/>
            </a:avLst>
          </a:prstGeom>
          <a:noFill/>
          <a:ln w="6350">
            <a:solidFill>
              <a:srgbClr val="D5DDE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737600" y="2053828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1 OF 6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737600" y="2419548"/>
            <a:ext cx="272084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Overview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737600" y="2963069"/>
            <a:ext cx="272084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A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is the company performing financially?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37600" y="3643709"/>
            <a:ext cx="2720848" cy="982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one page an executive reads. Headline numbers first, then four charts that explain growth, profitability, cash and debt.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1 · 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visual and its job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66801"/>
          <a:ext cx="10553700" cy="2422128"/>
        </p:xfrm>
        <a:graphic>
          <a:graphicData uri="http://schemas.openxmlformats.org/drawingml/2006/table">
            <a:tbl>
              <a:tblPr/>
              <a:tblGrid>
                <a:gridCol w="2005203"/>
                <a:gridCol w="1794129"/>
                <a:gridCol w="3799332"/>
                <a:gridCol w="2955036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Visual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Chart type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Question it answers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Measures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KPI row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Cards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are the headline numbers right now?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Revenue, EBITDA, Net Income, FCF, Net Debt / EBITDA, ROE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Growth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Clustered column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 the business growing, and is profit growing with it?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Revenue, EBITDA, Net Income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Margins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 each pound of revenue becoming more profitable?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Gross, EBITDA and Net margin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Profit vs cash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Clustered column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 profit turning into real cash?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Net Income, Operating Cash Flow, FCF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Net debt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Column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 the company borrowing more over time?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Net Debt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ofit &amp; Loss page mockup">    </p:cNvPr>
          <p:cNvPicPr>
            <a:picLocks noChangeAspect="1"/>
          </p:cNvPicPr>
          <p:nvPr/>
        </p:nvPicPr>
        <p:blipFill>
          <a:blip r:embed="rId1"/>
          <a:srcRect l="-65" r="-65" t="0" b="0"/>
          <a:stretch/>
        </p:blipFill>
        <p:spPr>
          <a:xfrm>
            <a:off x="819150" y="1190625"/>
            <a:ext cx="7607300" cy="4273550"/>
          </a:xfrm>
          <a:prstGeom prst="roundRect">
            <a:avLst>
              <a:gd name="adj" fmla="val 1634"/>
            </a:avLst>
          </a:prstGeom>
          <a:effectLst>
            <a:outerShdw sx="100000" sy="100000" kx="0" ky="0" algn="bl" rotWithShape="0" blurRad="254000" dist="76200" dir="5400000">
              <a:srgbClr val="12303A">
                <a:alpha val="18000"/>
              </a:srgbClr>
            </a:outerShdw>
          </a:effectLst>
        </p:spPr>
      </p:pic>
      <p:sp>
        <p:nvSpPr>
          <p:cNvPr id="3" name="Shape 0"/>
          <p:cNvSpPr/>
          <p:nvPr/>
        </p:nvSpPr>
        <p:spPr>
          <a:xfrm>
            <a:off x="815975" y="1187450"/>
            <a:ext cx="7613650" cy="4279900"/>
          </a:xfrm>
          <a:prstGeom prst="roundRect">
            <a:avLst>
              <a:gd name="adj" fmla="val 1706"/>
            </a:avLst>
          </a:prstGeom>
          <a:noFill/>
          <a:ln w="6350">
            <a:solidFill>
              <a:srgbClr val="D5DDE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737600" y="2173486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2 OF 6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737600" y="2539206"/>
            <a:ext cx="272084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Profit &amp; Loss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737600" y="3082727"/>
            <a:ext cx="272084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A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the company growing profitably?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37600" y="3763367"/>
            <a:ext cx="2720848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Follows revenue down to net income and shows which costs grow faster than sales.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2 · PROFIT &amp; LOSS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visual and its job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66801"/>
          <a:ext cx="10553700" cy="2208808"/>
        </p:xfrm>
        <a:graphic>
          <a:graphicData uri="http://schemas.openxmlformats.org/drawingml/2006/table">
            <a:tbl>
              <a:tblPr/>
              <a:tblGrid>
                <a:gridCol w="2005203"/>
                <a:gridCol w="1794129"/>
                <a:gridCol w="3799332"/>
                <a:gridCol w="2955036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Visual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Chart type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Question it answers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Measures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KPI row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Cards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 revenue and costs growing, and at what margin?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Revenue, YoY / QoQ %, Total Cost, Margins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Income statement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Matrix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happened, line by line, period by period?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Financial Term × period, Value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 to net income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Waterfall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Where does revenue go before it becomes profit?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Revenue, COGS, OPEX, Interest, Tax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Cost structure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 costs growing faster than revenue?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COGS %, OPEX %, Net margin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 split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100% bar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Where does each pound of revenue go?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COGS, OPEX, Operating income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lance Sheet page mockup">    </p:cNvPr>
          <p:cNvPicPr>
            <a:picLocks noChangeAspect="1"/>
          </p:cNvPicPr>
          <p:nvPr/>
        </p:nvPicPr>
        <p:blipFill>
          <a:blip r:embed="rId1"/>
          <a:srcRect l="-65" r="-65" t="0" b="0"/>
          <a:stretch/>
        </p:blipFill>
        <p:spPr>
          <a:xfrm>
            <a:off x="819150" y="1190625"/>
            <a:ext cx="7607300" cy="4273550"/>
          </a:xfrm>
          <a:prstGeom prst="roundRect">
            <a:avLst>
              <a:gd name="adj" fmla="val 1634"/>
            </a:avLst>
          </a:prstGeom>
          <a:effectLst>
            <a:outerShdw sx="100000" sy="100000" kx="0" ky="0" algn="bl" rotWithShape="0" blurRad="254000" dist="76200" dir="5400000">
              <a:srgbClr val="12303A">
                <a:alpha val="18000"/>
              </a:srgbClr>
            </a:outerShdw>
          </a:effectLst>
        </p:spPr>
      </p:pic>
      <p:sp>
        <p:nvSpPr>
          <p:cNvPr id="3" name="Shape 0"/>
          <p:cNvSpPr/>
          <p:nvPr/>
        </p:nvSpPr>
        <p:spPr>
          <a:xfrm>
            <a:off x="815975" y="1187450"/>
            <a:ext cx="7613650" cy="4279900"/>
          </a:xfrm>
          <a:prstGeom prst="roundRect">
            <a:avLst>
              <a:gd name="adj" fmla="val 1706"/>
            </a:avLst>
          </a:prstGeom>
          <a:noFill/>
          <a:ln w="6350">
            <a:solidFill>
              <a:srgbClr val="D5DDE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737600" y="2173486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3 OF 6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737600" y="2539206"/>
            <a:ext cx="272084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Balance Sheet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737600" y="3082727"/>
            <a:ext cx="272084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A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it own, and how is it funded?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37600" y="3763367"/>
            <a:ext cx="2720848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Shows the size of the company and whether growth is paid for with debt or with shareholders’ money.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3 · BALANCE SHEET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visual and its job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66801"/>
          <a:ext cx="10553700" cy="2302867"/>
        </p:xfrm>
        <a:graphic>
          <a:graphicData uri="http://schemas.openxmlformats.org/drawingml/2006/table">
            <a:tbl>
              <a:tblPr/>
              <a:tblGrid>
                <a:gridCol w="2005203"/>
                <a:gridCol w="1794129"/>
                <a:gridCol w="3799332"/>
                <a:gridCol w="2955036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Visual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Chart type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Question it answers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Measures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KPI row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Cards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big is the company and how leveraged?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 Assets, Liabilities, Equity, D/E, D/A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Stacked column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 growth funded by debt or by equity?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Short-term liabilities, long-term liabilities, Equity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owns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100% bar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Where is the money invested?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PP&amp;E, Inventory, Receivables, Cash, Other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owes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100% bar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does it owe, and how soon?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Short-term debt, Payables, Long-term debt, Other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quidity &amp; Leverage page mockup">    </p:cNvPr>
          <p:cNvPicPr>
            <a:picLocks noChangeAspect="1"/>
          </p:cNvPicPr>
          <p:nvPr/>
        </p:nvPicPr>
        <p:blipFill>
          <a:blip r:embed="rId1"/>
          <a:srcRect l="-65" r="-65" t="0" b="0"/>
          <a:stretch/>
        </p:blipFill>
        <p:spPr>
          <a:xfrm>
            <a:off x="819150" y="1190625"/>
            <a:ext cx="7607300" cy="4273550"/>
          </a:xfrm>
          <a:prstGeom prst="roundRect">
            <a:avLst>
              <a:gd name="adj" fmla="val 1634"/>
            </a:avLst>
          </a:prstGeom>
          <a:effectLst>
            <a:outerShdw sx="100000" sy="100000" kx="0" ky="0" algn="bl" rotWithShape="0" blurRad="254000" dist="76200" dir="5400000">
              <a:srgbClr val="12303A">
                <a:alpha val="18000"/>
              </a:srgbClr>
            </a:outerShdw>
          </a:effectLst>
        </p:spPr>
      </p:pic>
      <p:sp>
        <p:nvSpPr>
          <p:cNvPr id="3" name="Shape 0"/>
          <p:cNvSpPr/>
          <p:nvPr/>
        </p:nvSpPr>
        <p:spPr>
          <a:xfrm>
            <a:off x="815975" y="1187450"/>
            <a:ext cx="7613650" cy="4279900"/>
          </a:xfrm>
          <a:prstGeom prst="roundRect">
            <a:avLst>
              <a:gd name="adj" fmla="val 1706"/>
            </a:avLst>
          </a:prstGeom>
          <a:noFill/>
          <a:ln w="6350">
            <a:solidFill>
              <a:srgbClr val="D5DDE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737600" y="2109986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4 OF 6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737600" y="2475706"/>
            <a:ext cx="2720848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Liquidity &amp; Leverage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737600" y="3410347"/>
            <a:ext cx="2720848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A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it meet its obligations?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37600" y="3826867"/>
            <a:ext cx="2720848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Short-term: can it pay this year’s bills. Long-term: can it carry and service its debt.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4 · LIQUIDITY &amp; LEVERAGE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visual and its job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66801"/>
          <a:ext cx="10553700" cy="2422128"/>
        </p:xfrm>
        <a:graphic>
          <a:graphicData uri="http://schemas.openxmlformats.org/drawingml/2006/table">
            <a:tbl>
              <a:tblPr/>
              <a:tblGrid>
                <a:gridCol w="2005203"/>
                <a:gridCol w="1794129"/>
                <a:gridCol w="3799332"/>
                <a:gridCol w="2955036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Visual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Chart type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Question it answers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Measures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KPI row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Cards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 any ratio in the danger zone?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Current, Quick, Cash ratio, Net Debt / EBITDA, Coverage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Short-term bills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Line + 1.0 line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Can it pay bills due within a year?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Current, Quick, Cash ratio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Debt vs equity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Clustered column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 leverage rising?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 Debt, Total Equity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Debt service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Column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Can profit cover the interest bill? Below 3x is a warning.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Interest Coverage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Leverage trend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Column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many years of EBITDA would repay net debt?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Net Debt / EBITDA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ing Capital page mockup">    </p:cNvPr>
          <p:cNvPicPr>
            <a:picLocks noChangeAspect="1"/>
          </p:cNvPicPr>
          <p:nvPr/>
        </p:nvPicPr>
        <p:blipFill>
          <a:blip r:embed="rId1"/>
          <a:srcRect l="-65" r="-65" t="0" b="0"/>
          <a:stretch/>
        </p:blipFill>
        <p:spPr>
          <a:xfrm>
            <a:off x="819150" y="1190625"/>
            <a:ext cx="7607300" cy="4273550"/>
          </a:xfrm>
          <a:prstGeom prst="roundRect">
            <a:avLst>
              <a:gd name="adj" fmla="val 1634"/>
            </a:avLst>
          </a:prstGeom>
          <a:effectLst>
            <a:outerShdw sx="100000" sy="100000" kx="0" ky="0" algn="bl" rotWithShape="0" blurRad="254000" dist="76200" dir="5400000">
              <a:srgbClr val="12303A">
                <a:alpha val="18000"/>
              </a:srgbClr>
            </a:outerShdw>
          </a:effectLst>
        </p:spPr>
      </p:pic>
      <p:sp>
        <p:nvSpPr>
          <p:cNvPr id="3" name="Shape 0"/>
          <p:cNvSpPr/>
          <p:nvPr/>
        </p:nvSpPr>
        <p:spPr>
          <a:xfrm>
            <a:off x="815975" y="1187450"/>
            <a:ext cx="7613650" cy="4279900"/>
          </a:xfrm>
          <a:prstGeom prst="roundRect">
            <a:avLst>
              <a:gd name="adj" fmla="val 1706"/>
            </a:avLst>
          </a:prstGeom>
          <a:noFill/>
          <a:ln w="6350">
            <a:solidFill>
              <a:srgbClr val="D5DDE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737600" y="2173486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5 OF 6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737600" y="2539206"/>
            <a:ext cx="31699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Working Capital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737600" y="3082727"/>
            <a:ext cx="272084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A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efficiently does it use operating assets?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37600" y="3763367"/>
            <a:ext cx="2720848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Shows how much cash is tied up in running the business and how long it takes to come back.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5 · WORKING CAPITAL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visual and its job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66801"/>
          <a:ext cx="10553700" cy="1876227"/>
        </p:xfrm>
        <a:graphic>
          <a:graphicData uri="http://schemas.openxmlformats.org/drawingml/2006/table">
            <a:tbl>
              <a:tblPr/>
              <a:tblGrid>
                <a:gridCol w="2005203"/>
                <a:gridCol w="1794129"/>
                <a:gridCol w="3799332"/>
                <a:gridCol w="2955036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Visual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Chart type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Question it answers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Measures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Equations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Cards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much cash is tied up, and for how many days?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 + Inventory − AP; DSO + DIO − DPO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Cash cycle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Clustered column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 the cash cycle getting longer?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DSO, DIO, DPO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Working capital items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Clustered column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Which item drives the change?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Receivables, Inventory, Payables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5902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Turnover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Cards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hard are the assets working?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Asset, Inventory, Receivables, PP&amp;E turnover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mpare Companies page mockup">    </p:cNvPr>
          <p:cNvPicPr>
            <a:picLocks noChangeAspect="1"/>
          </p:cNvPicPr>
          <p:nvPr/>
        </p:nvPicPr>
        <p:blipFill>
          <a:blip r:embed="rId1"/>
          <a:srcRect l="-65" r="-65" t="0" b="0"/>
          <a:stretch/>
        </p:blipFill>
        <p:spPr>
          <a:xfrm>
            <a:off x="819150" y="1190625"/>
            <a:ext cx="7607300" cy="4273550"/>
          </a:xfrm>
          <a:prstGeom prst="roundRect">
            <a:avLst>
              <a:gd name="adj" fmla="val 1634"/>
            </a:avLst>
          </a:prstGeom>
          <a:effectLst>
            <a:outerShdw sx="100000" sy="100000" kx="0" ky="0" algn="bl" rotWithShape="0" blurRad="254000" dist="76200" dir="5400000">
              <a:srgbClr val="12303A">
                <a:alpha val="18000"/>
              </a:srgbClr>
            </a:outerShdw>
          </a:effectLst>
        </p:spPr>
      </p:pic>
      <p:sp>
        <p:nvSpPr>
          <p:cNvPr id="3" name="Shape 0"/>
          <p:cNvSpPr/>
          <p:nvPr/>
        </p:nvSpPr>
        <p:spPr>
          <a:xfrm>
            <a:off x="815975" y="1187450"/>
            <a:ext cx="7613650" cy="4279900"/>
          </a:xfrm>
          <a:prstGeom prst="roundRect">
            <a:avLst>
              <a:gd name="adj" fmla="val 1706"/>
            </a:avLst>
          </a:prstGeom>
          <a:noFill/>
          <a:ln w="6350">
            <a:solidFill>
              <a:srgbClr val="D5DDE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737600" y="1977926"/>
            <a:ext cx="272084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6 OF 6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737600" y="2343646"/>
            <a:ext cx="2720848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Companies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737600" y="3278287"/>
            <a:ext cx="2720848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D4A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does it stack up against peers?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737600" y="3958927"/>
            <a:ext cx="2720848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Puts the selected companies side by side on the same ratios for the same period.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954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6 · COMPARE COMPANIES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325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visual and its job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66801"/>
          <a:ext cx="10553700" cy="1662906"/>
        </p:xfrm>
        <a:graphic>
          <a:graphicData uri="http://schemas.openxmlformats.org/drawingml/2006/table">
            <a:tbl>
              <a:tblPr/>
              <a:tblGrid>
                <a:gridCol w="2005203"/>
                <a:gridCol w="1794129"/>
                <a:gridCol w="3799332"/>
                <a:gridCol w="2955036"/>
              </a:tblGrid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Visual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Chart type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Question it answers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Measures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8"/>
                    </a:solidFill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Company picker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Slicer chips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Which companies are we comparing?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DimCompany (multi-select)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 table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Table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How does each company rank on the same metrics?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Revenue, YoY, margins, ROE, D/E, CCC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Return vs leverage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Scatter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Who earns high returns without heavy debt?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ROE (y) vs Debt / Equity (x)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8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Growth ranking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325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Who is growing fastest?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A6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Revenue YoY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9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A6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Performance Dashboard · Design brief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9A5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brief to Power BI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101"/>
            <a:ext cx="2508250" cy="1681262"/>
          </a:xfrm>
          <a:prstGeom prst="roundRect">
            <a:avLst>
              <a:gd name="adj" fmla="val 6043"/>
            </a:avLst>
          </a:prstGeom>
          <a:solidFill>
            <a:srgbClr val="1C435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057301"/>
            <a:ext cx="21649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9A5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6000" y="2537321"/>
            <a:ext cx="216490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Apply the theme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870002"/>
            <a:ext cx="216490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3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View › Themes › EGX_Financials_theme.json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8850" y="1854101"/>
            <a:ext cx="2508250" cy="1681262"/>
          </a:xfrm>
          <a:prstGeom prst="roundRect">
            <a:avLst>
              <a:gd name="adj" fmla="val 6043"/>
            </a:avLst>
          </a:prstGeom>
          <a:solidFill>
            <a:srgbClr val="1C4350"/>
          </a:solidFill>
          <a:ln/>
        </p:spPr>
      </p:sp>
      <p:sp>
        <p:nvSpPr>
          <p:cNvPr id="9" name="Text 7"/>
          <p:cNvSpPr/>
          <p:nvPr/>
        </p:nvSpPr>
        <p:spPr>
          <a:xfrm>
            <a:off x="3702050" y="2057301"/>
            <a:ext cx="21649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9A5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02050" y="2537321"/>
            <a:ext cx="216490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backgrounds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2050" y="2870002"/>
            <a:ext cx="216490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3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1280×720 image per page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4900" y="1854101"/>
            <a:ext cx="2508250" cy="1681262"/>
          </a:xfrm>
          <a:prstGeom prst="roundRect">
            <a:avLst>
              <a:gd name="adj" fmla="val 6043"/>
            </a:avLst>
          </a:prstGeom>
          <a:solidFill>
            <a:srgbClr val="1C4350"/>
          </a:solidFill>
          <a:ln/>
        </p:spPr>
      </p:sp>
      <p:sp>
        <p:nvSpPr>
          <p:cNvPr id="13" name="Text 11"/>
          <p:cNvSpPr/>
          <p:nvPr/>
        </p:nvSpPr>
        <p:spPr>
          <a:xfrm>
            <a:off x="6388100" y="2057301"/>
            <a:ext cx="21649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9A5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88100" y="2537321"/>
            <a:ext cx="216490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Place visuals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8100" y="2870002"/>
            <a:ext cx="216490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3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the white cards, as in these mockups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70950" y="1854101"/>
            <a:ext cx="2508250" cy="1681262"/>
          </a:xfrm>
          <a:prstGeom prst="roundRect">
            <a:avLst>
              <a:gd name="adj" fmla="val 6043"/>
            </a:avLst>
          </a:prstGeom>
          <a:solidFill>
            <a:srgbClr val="1C4350"/>
          </a:solidFill>
          <a:ln/>
        </p:spPr>
      </p:sp>
      <p:sp>
        <p:nvSpPr>
          <p:cNvPr id="17" name="Text 15"/>
          <p:cNvSpPr/>
          <p:nvPr/>
        </p:nvSpPr>
        <p:spPr>
          <a:xfrm>
            <a:off x="9074150" y="2057301"/>
            <a:ext cx="216490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9A56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74150" y="2537321"/>
            <a:ext cx="216490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numbers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74150" y="2870002"/>
            <a:ext cx="216490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3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Assets = Liabilities + Equity, every period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ancial Dashboard – Design Brief">
  <a:themeElements>
    <a:clrScheme name="Financial Dashboard – Design Brief">
      <a:dk1>
        <a:srgbClr val="4A5A61"/>
      </a:dk1>
      <a:lt1>
        <a:srgbClr val="F4F6F5"/>
      </a:lt1>
      <a:dk2>
        <a:srgbClr val="758186"/>
      </a:dk2>
      <a:lt2>
        <a:srgbClr val="E3E6E6"/>
      </a:lt2>
      <a:accent1>
        <a:srgbClr val="A9541A"/>
      </a:accent1>
      <a:accent2>
        <a:srgbClr val="1D4A55"/>
      </a:accent2>
      <a:accent3>
        <a:srgbClr val="E9A56B"/>
      </a:accent3>
      <a:accent4>
        <a:srgbClr val="1C4350"/>
      </a:accent4>
      <a:accent5>
        <a:srgbClr val="12303A"/>
      </a:accent5>
      <a:accent6>
        <a:srgbClr val="3A9A9A"/>
      </a:accent6>
      <a:hlink>
        <a:srgbClr val="0563C1"/>
      </a:hlink>
      <a:folHlink>
        <a:srgbClr val="954F72"/>
      </a:folHlink>
    </a:clrScheme>
    <a:fontScheme name="Financial Dashboard – Design Brief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Dashboard – Design Brief</dc:title>
  <dc:subject/>
  <dc:creator/>
  <cp:lastModifiedBy/>
  <cp:revision>1</cp:revision>
  <dcterms:created xsi:type="dcterms:W3CDTF">2026-10-01T15:00:45Z</dcterms:created>
  <dcterms:modified xsi:type="dcterms:W3CDTF">2026-10-01T15:00:45Z</dcterms:modified>
</cp:coreProperties>
</file>